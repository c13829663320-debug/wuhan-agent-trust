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notesSlides/notesSlide1.xml" Type="http://schemas.openxmlformats.org/officeDocument/2006/relationships/notesSlide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项目目标与痛点属于设计动机，未宣称客户访谈或已实现企业提效。实现来源：server/observations.py、public/resources/catalog.json。秦斌项目独立拆分，原武汉行业项目不作为本项目功能证据。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来源：ProbeService.probe、inspect、Ledger.add。2026-10-06修复同快照验收结果变化的去重遗漏，并新增fresh→stale和healthy→latency失败两项测试。当前只有PublicNode启用，Llama未启用，所以不宣称真实备用服务自动切换。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完整实测证据：tests/live-probe-result.json。Ethereum block hash 0x34c2d097c0ed5cefd59d0d262854b6be4c1a4719773dc314f41ec7ff59690d91，源 https://ethereum-rpc.publicnode.com。此次账本运行在独立临时SQLite，测试后移除。耗时仅该次测量，不是可用率或SLA。demo stale/missing只有拒收，无备用服务切换。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来源：public/resources/catalog.json，12 skills/4 agents/8 harness；岗位只是确定性代码职责划分，不是四个大模型自主代理。Harness包括固定来源、真实合成隔离、失败不选中、有界执行、证据重放、去重、分母与身份边界。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测试命令：python3 -m unittest discover -s tests -v，2026-10-06当前24 tests通过。离线verify校验规范快照内部一致性，不证明来源真实或提供者身份。当前不实现ERC-8004或注册评分体系，也未签名或上链。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目标访问地址为 https://wutiantian.cn/agent-trust/，实际上线状态以发布记录为准，页面不以链接文字声称已上线。公开资料包含源码许可、API、目录和测试，具体开源发布范围以项目README为准。该背景复用public/media/titanium-wallpaper.png，为静态材质；文字与原生流程/表格可编辑，不含WebGL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hatGPT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6.xml" Type="http://schemas.openxmlformats.org/officeDocument/2006/relationships/notesSlid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23925" y="6477000"/>
            <a:ext cx="8096250" cy="23812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"/>
                <a:ea typeface="Arial"/>
                <a:cs typeface="Arial"/>
                <a:sym typeface="Arial"/>
              </a:rPr>
              <a:t>江城验真 01 / 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76300" y="828675"/>
            <a:ext cx="10191750" cy="857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江城验真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04875" y="1838325"/>
            <a:ext cx="10001250" cy="5048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Agent 服务的交付验收与观测证据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2809875"/>
            <a:ext cx="2571750" cy="4095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服务对象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3362325"/>
            <a:ext cx="390525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0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委托方、工具集成者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0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服务复核人员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400675" y="2809875"/>
            <a:ext cx="585787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收到响应以后，仍要确认交付可用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10200" y="3429000"/>
            <a:ext cx="5791200" cy="1543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1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过期数据照常返回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1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交易与回执可能缺项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1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一次成功难以代表持续履约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14400" y="5581650"/>
            <a:ext cx="1031557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本实例按固定约定检查交付，保留可下载的验收证据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14400" y="5067300"/>
            <a:ext cx="10315575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队名：AI终身合伙人</a:t>
            </a:r>
            <a:r>
              <a:rPr lang="en-US" b="true" i="false" strike="noStrike" u="none" sz="1800">
                <a:solidFill>
                  <a:srgbClr val="182A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1800">
                <a:solidFill>
                  <a:srgbClr val="182A36"/>
                </a:solidFill>
                <a:latin typeface="Songti SC"/>
                <a:ea typeface="Songti SC"/>
                <a:cs typeface="Songti SC"/>
                <a:sym typeface="Songti SC"/>
              </a:rPr>
              <a:t>成员：陈敏鸿、秦斌、黄焱豪、邵凡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交付验收闭环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真实探测、逐项验收和去重记录构成最小可运行流程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江城验真   02 / 06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048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77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77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选择服务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77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固定来源白名单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003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432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432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采集交付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1432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区块与3笔回执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0" flipH="false" flipV="false">
            <a:off x="2828925" y="3181350"/>
            <a:ext cx="171450" cy="0"/>
          </a:xfrm>
          <a:prstGeom prst="straightConnector1">
            <a:avLst/>
          </a:prstGeom>
          <a:noFill/>
          <a:ln w="12700">
            <a:solidFill>
              <a:srgbClr val="245E87">
                <a:alpha val="100000"/>
              </a:srgbClr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50958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2387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2387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核对约定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2387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身份、时效、关联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0" flipH="false" flipV="false">
            <a:off x="4924425" y="3181350"/>
            <a:ext cx="171450" cy="0"/>
          </a:xfrm>
          <a:prstGeom prst="straightConnector1">
            <a:avLst/>
          </a:prstGeom>
          <a:noFill/>
          <a:ln w="12700">
            <a:solidFill>
              <a:srgbClr val="245E87">
                <a:alpha val="100000"/>
              </a:srgbClr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1913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342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3342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形成判定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3342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通过或明确拒收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0" flipH="false" flipV="false">
            <a:off x="7019925" y="3181350"/>
            <a:ext cx="171450" cy="0"/>
          </a:xfrm>
          <a:prstGeom prst="straightConnector1">
            <a:avLst/>
          </a:prstGeom>
          <a:noFill/>
          <a:ln w="12700">
            <a:solidFill>
              <a:srgbClr val="245E87">
                <a:alpha val="100000"/>
              </a:srgbClr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9286875" y="2476500"/>
            <a:ext cx="1924050" cy="1409700"/>
          </a:xfrm>
          <a:prstGeom prst="roundRect">
            <a:avLst>
              <a:gd name="adj" fmla="val 5404"/>
            </a:avLst>
          </a:prstGeom>
          <a:solidFill>
            <a:srgbClr val="EAF2F7">
              <a:alpha val="10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429750" y="26098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05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429750" y="3028950"/>
            <a:ext cx="164782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记录与复核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429750" y="3467100"/>
            <a:ext cx="16383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2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下载与离线重放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0" flipH="false" flipV="false">
            <a:off x="9115425" y="3181350"/>
            <a:ext cx="171450" cy="0"/>
          </a:xfrm>
          <a:prstGeom prst="straightConnector1">
            <a:avLst/>
          </a:prstGeom>
          <a:noFill/>
          <a:ln w="12700">
            <a:solidFill>
              <a:srgbClr val="245E87">
                <a:alpha val="100000"/>
              </a:srgbClr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923925" y="4448175"/>
            <a:ext cx="10287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5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通过变为过期或超时拒收时，保留新的判定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23925" y="5133975"/>
            <a:ext cx="10191750" cy="666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相同快照、相同判定与失败项继续去重。统计分母是去重观测。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真实服务已经完成一次验收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2026-10-06 10:50:12 UTC，固定 PublicNode 实测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江城验真   03 / 06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95350" y="2219325"/>
          <a:ext cx="10382250" cy="29241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429000"/>
                <a:gridCol w="6953250"/>
              </a:tblGrid>
              <a:tr h="58483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9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观测项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9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实测结果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</a:tr>
              <a:tr h="58483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Finalized 区块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26,132,778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483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交易回执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3 / 3 份，关联验收通过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483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本次采集耗时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3,229 ms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4835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证据重放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通过，来源真实性未认证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933450" y="5543550"/>
            <a:ext cx="10287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合成示例：正常通过，过期与缺项拒收，均不进入真实账本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岗位职责与可执行技能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12 项 Skills，4 个确定性岗位，8 条 Harness 规则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江城验真   04 / 06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95350" y="2219325"/>
          <a:ext cx="10382250" cy="31813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2650"/>
                <a:gridCol w="4676775"/>
                <a:gridCol w="3552825"/>
              </a:tblGrid>
              <a:tr h="63627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岗位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执行内容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交付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</a:tr>
              <a:tr h="63627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服务探测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固定来源与RPC采集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有界证据快照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3627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交付验收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链身份、时效与关联检查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逐项通过或拒收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3627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选择与观测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按验收选择并去重保存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SQLite 观测记录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3627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证据复核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样例、下载与离线重放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摘要及规则一致结果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923925" y="5581650"/>
            <a:ext cx="1034415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由 Python 工具执行，语言模型未接入；用户请求触发，未安装定时任务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验证结果与当前范围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当前后端测试集：24 项通过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江城验真   05 / 06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95350" y="2219325"/>
          <a:ext cx="10382250" cy="29146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533900"/>
                <a:gridCol w="5848350"/>
              </a:tblGrid>
              <a:tr h="58293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已验证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范围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E87">
                        <a:alpha val="100000"/>
                      </a:srgbClr>
                    </a:solidFill>
                  </a:tcPr>
                </a:tc>
              </a:tr>
              <a:tr h="58293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真实观测留档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同快照通过转拒收另行保留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293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重新计算哈希后的篡改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派生判定与规则不一致仍拒绝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293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真实与合成隔离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失败不改为示例，示例不入账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293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固定只读调用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并发锁、响应上限和同源检查</a:t>
                      </a:r>
                      <a:endParaRPr lang="en-US" sz="1100"/>
                    </a:p>
                  </a:txBody>
                  <a:tcPr anchor="ctr" marL="142875" marR="114300" marT="85725" marB="7620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923925" y="5581650"/>
            <a:ext cx="1028700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当前是单实例履约观测；公共信誉、抗女巫与链上登记尚未实现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3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95300" y="361950"/>
            <a:ext cx="11201400" cy="6038850"/>
          </a:xfrm>
          <a:prstGeom prst="roundRect">
            <a:avLst>
              <a:gd name="adj" fmla="val 126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6775" y="742950"/>
            <a:ext cx="103822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使用与公共物品复用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0" y="1438275"/>
            <a:ext cx="10191750" cy="628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25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以开放约定、示例和复核工具支持后续集成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23925" y="6477000"/>
            <a:ext cx="8096250" cy="238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江城验真   06 / 06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2324100"/>
            <a:ext cx="9906000" cy="438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17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访问入口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2886075"/>
            <a:ext cx="10287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175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https://wutiantian.cn/agent-trust/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23925" y="3762375"/>
            <a:ext cx="10287000" cy="962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1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选择真实服务，查看验收项和历史观测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1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下载回执后，在复核入口重新验算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23925" y="5038725"/>
            <a:ext cx="9906000" cy="371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25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可复用交付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23925" y="5514975"/>
            <a:ext cx="10287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75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  <a:sym typeface="Arial Unicode MS"/>
              </a:rPr>
              <a:t>API 约定、12 项技能清单、测试集、回执 schema 与示例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